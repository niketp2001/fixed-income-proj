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B10B3-2BE3-46EA-AF04-6F3757AC13B2}" v="169" dt="2024-04-29T00:48:16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Yield and Maturity Duration Relationship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Yield(in %)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Bond A</c:v>
                </c:pt>
                <c:pt idx="1">
                  <c:v>Bond B</c:v>
                </c:pt>
                <c:pt idx="2">
                  <c:v>Bond C</c:v>
                </c:pt>
                <c:pt idx="3">
                  <c:v>Bond D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5.0140000000000002</c:v>
                </c:pt>
                <c:pt idx="1">
                  <c:v>4.968</c:v>
                </c:pt>
                <c:pt idx="2">
                  <c:v>5.0389999999999997</c:v>
                </c:pt>
                <c:pt idx="3">
                  <c:v>5.2229999999999999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7-4128-8597-8713DDDC9C8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Maturity duration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2.0703933747412008E-2"/>
                  <c:y val="8.1566068515496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B7-4128-8597-8713DDDC9C84}"/>
                </c:ext>
              </c:extLst>
            </c:dLbl>
            <c:dLbl>
              <c:idx val="1"/>
              <c:layout>
                <c:manualLayout>
                  <c:x val="2.329192546583850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4B7-4128-8597-8713DDDC9C84}"/>
                </c:ext>
              </c:extLst>
            </c:dLbl>
            <c:dLbl>
              <c:idx val="2"/>
              <c:layout>
                <c:manualLayout>
                  <c:x val="4.1407867494824016E-2"/>
                  <c:y val="-1.22349102773246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B7-4128-8597-8713DDDC9C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Bond A</c:v>
                </c:pt>
                <c:pt idx="1">
                  <c:v>Bond B</c:v>
                </c:pt>
                <c:pt idx="2">
                  <c:v>Bond C</c:v>
                </c:pt>
                <c:pt idx="3">
                  <c:v>Bond D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3.0539999999999998</c:v>
                </c:pt>
                <c:pt idx="1">
                  <c:v>2.7945205479452055</c:v>
                </c:pt>
                <c:pt idx="2">
                  <c:v>1.8438356164383563</c:v>
                </c:pt>
                <c:pt idx="3">
                  <c:v>8.8493150684931514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B7-4128-8597-8713DDDC9C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16355232"/>
        <c:axId val="1112238672"/>
      </c:barChart>
      <c:catAx>
        <c:axId val="111635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2238672"/>
        <c:crosses val="autoZero"/>
        <c:auto val="1"/>
        <c:lblAlgn val="ctr"/>
        <c:lblOffset val="100"/>
        <c:noMultiLvlLbl val="0"/>
      </c:catAx>
      <c:valAx>
        <c:axId val="111223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6355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8EBD-4E0A-43BD-4CDE-D9E364291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5A597-349D-FBC2-1F40-7D3D09D08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AE7D-743B-609A-1348-42AD1670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54E4-AE51-58A2-9E24-63710A96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058A0-91A8-3BC2-B280-ACC57E58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7701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11E3-9258-158F-EA59-867EEE44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0C902-017E-7929-5505-DAC7B04B6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62504-7FC4-6B09-6C72-00DCF9CC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9E53F-C313-33B3-48EA-AAFC2E9C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2F1B2-63AE-7440-8925-AD1C221F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742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84B2-A76F-464A-4EFE-3A2ECCC5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0D0EB-AEAC-BFD6-CA47-908E31D42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7A5F6-D178-4300-E96F-3EFE9CD36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6523-3DE5-0DE4-4E8F-59045E62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84F34-7D7E-BF16-75D6-71027E15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25038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944C-9D0A-C033-BB0D-45D6C922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FB166-C76C-EC92-3FFE-051DC9227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AED58-8C0A-0CE8-99F0-1878A5019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C7308-7E21-FA67-86E7-098CAB9B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D3DC1-68A4-7A02-F397-9EE2BE30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BA8CA-A9C3-8C24-23E1-AC560696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122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E103-E993-2130-92EF-AAD5C4F16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7D040-0701-B477-8318-C11033B52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BE6FE-C74B-786E-C43F-97812AA26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1B007-F319-D1EA-FB86-90D695F90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B1D99-C2DD-DE8B-EA86-016744225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51360-E27E-E1C6-FEEC-15779BA4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68FA1-B6BE-F99B-75E5-5C2E48F2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7B1BF-27EC-169A-F568-8B63A632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3868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77879-A266-3EA5-61E6-8D8004C6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07D8C-B42E-270D-BEB2-CDAB1C91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BF1CF-F484-F19B-B5AD-5694EF5E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E47E7-837C-0B3B-5266-7D59C00B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13319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6F12F-2793-B3B7-93B5-8C751C61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CF41-9E46-134B-7D69-196F761E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F9A5-6D53-E849-6804-3A1B437C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4395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4DEB-6308-EA38-FEE7-F66EF290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F23F-624B-AF4C-9BB6-DE6A9A37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BCD14-6190-ED84-89EA-345D30E74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49CC5-F4BB-2481-6167-E588BD5F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F3B3F-25CD-C9F8-8158-4C7E213E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68275-4D6C-B4C0-49C5-B3631D04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3497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4A49-1D67-6787-FBC7-AD364506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262B5-28E7-8F2C-5029-4A7435918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0B023-5020-6153-F89A-4632BBEC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19CE3-D39C-16FB-AFB8-D4668631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F5626-8659-87C0-D705-41436191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C39A8-887F-D906-319F-ACFAD33C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9135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0AD8-A3E9-E642-22B7-63AA2EE4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E9B61-CFD0-B118-59A4-048CD9F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CCBB0-6E92-D8A6-68C9-ADAED946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A7A5D-D61C-306A-42BC-7884BFE5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96C5-B5FC-6D07-A1E1-F80E94A8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8248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E35BF-7F7E-5D77-6E44-903261590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FAFBB-AA71-958E-AC6E-133AE5213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2211A-016F-FD98-5D5C-800E4344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E8990-A621-7915-28CD-5A6AF4A0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17072-E439-3810-3CB4-A199F310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6F15D-9B9C-BD43-86BE-76E12532D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0734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D9F61-B98E-E8C8-6421-DEE9A9A0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7398A-7B92-F819-D8D2-749DE4B2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F0B9A-C443-DBB5-A410-8CC221714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7E973-C626-D04E-ADDC-1E5CE35A647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232F2-239A-1679-E17F-9CEE84E41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2A800-D2DB-6482-9449-02FCF346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627628-1BB1-487C-19F2-3CA556D1A1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15663" y="136525"/>
            <a:ext cx="966788" cy="9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ADA6-7229-A04E-57B9-07752139E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8391"/>
            <a:ext cx="9144000" cy="2387600"/>
          </a:xfrm>
        </p:spPr>
        <p:txBody>
          <a:bodyPr/>
          <a:lstStyle/>
          <a:p>
            <a:r>
              <a:rPr lang="en-US" b="1"/>
              <a:t>Eli Lilly and Company</a:t>
            </a:r>
          </a:p>
        </p:txBody>
      </p:sp>
    </p:spTree>
    <p:extLst>
      <p:ext uri="{BB962C8B-B14F-4D97-AF65-F5344CB8AC3E}">
        <p14:creationId xmlns:p14="http://schemas.microsoft.com/office/powerpoint/2010/main" val="27233790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E221-50AF-21B6-B730-F38F438E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Agenda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17D0-FDB9-AA04-C86F-AA7EC1CC3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653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5360-3A4C-8AFF-B711-DFDC8D40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C58D-A4ED-02A2-09A0-983EEF227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557"/>
            <a:ext cx="10515600" cy="4351338"/>
          </a:xfrm>
        </p:spPr>
        <p:txBody>
          <a:bodyPr/>
          <a:lstStyle/>
          <a:p>
            <a:r>
              <a:rPr lang="en-IN"/>
              <a:t>An American Pharmaceutical Company established 1876</a:t>
            </a:r>
          </a:p>
          <a:p>
            <a:r>
              <a:rPr lang="en-IN"/>
              <a:t>Known for clinical depression drugs Prozac, Cymbalta, and antipsychotic Zyprexa, but main revenue from diabetes drugs Humalog and Trulicity</a:t>
            </a:r>
          </a:p>
          <a:p>
            <a:r>
              <a:rPr lang="en-IN"/>
              <a:t>Major achievements include mass-producing the Salk polio vaccine and insulin</a:t>
            </a:r>
          </a:p>
          <a:p>
            <a:r>
              <a:rPr lang="en-IN"/>
              <a:t>Pioneer in biotechnology drugs like Humulin (human insulin), Humalog (insulin lispro), and </a:t>
            </a:r>
            <a:r>
              <a:rPr lang="en-IN" err="1"/>
              <a:t>Basaglar</a:t>
            </a:r>
            <a:r>
              <a:rPr lang="en-IN"/>
              <a:t> (biosimilar insulin glargine)</a:t>
            </a:r>
          </a:p>
        </p:txBody>
      </p:sp>
    </p:spTree>
    <p:extLst>
      <p:ext uri="{BB962C8B-B14F-4D97-AF65-F5344CB8AC3E}">
        <p14:creationId xmlns:p14="http://schemas.microsoft.com/office/powerpoint/2010/main" val="183502997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F47B-2762-B2CE-591A-F2D822DA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Company Overview:</a:t>
            </a:r>
            <a:endParaRPr lang="en-IN" sz="35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417E2-C6E3-1795-E7BC-16969B49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Beta (5 years): 0.37</a:t>
            </a:r>
          </a:p>
          <a:p>
            <a:r>
              <a:rPr lang="en-US"/>
              <a:t>P/E Ratio: 125.53</a:t>
            </a:r>
          </a:p>
          <a:p>
            <a:r>
              <a:rPr lang="en-US"/>
              <a:t>EPS: 5.78</a:t>
            </a:r>
          </a:p>
          <a:p>
            <a:pPr marL="0" indent="0">
              <a:buNone/>
            </a:pPr>
            <a:r>
              <a:rPr lang="en-IN" sz="1800" i="1"/>
              <a:t>    (Source: Yahoo Finance)</a:t>
            </a:r>
            <a:endParaRPr lang="en-IN" i="1"/>
          </a:p>
        </p:txBody>
      </p:sp>
    </p:spTree>
    <p:extLst>
      <p:ext uri="{BB962C8B-B14F-4D97-AF65-F5344CB8AC3E}">
        <p14:creationId xmlns:p14="http://schemas.microsoft.com/office/powerpoint/2010/main" val="55035557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D8CD-9DBD-E53C-F7F2-FEA6C921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Financial Background:</a:t>
            </a:r>
            <a:r>
              <a:rPr lang="en-IN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90A634-BE12-290A-72DE-27D3F608AB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73657"/>
              </p:ext>
            </p:extLst>
          </p:nvPr>
        </p:nvGraphicFramePr>
        <p:xfrm>
          <a:off x="960639" y="1768985"/>
          <a:ext cx="9775857" cy="391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619">
                  <a:extLst>
                    <a:ext uri="{9D8B030D-6E8A-4147-A177-3AD203B41FA5}">
                      <a16:colId xmlns:a16="http://schemas.microsoft.com/office/drawing/2014/main" val="247071022"/>
                    </a:ext>
                  </a:extLst>
                </a:gridCol>
                <a:gridCol w="3258619">
                  <a:extLst>
                    <a:ext uri="{9D8B030D-6E8A-4147-A177-3AD203B41FA5}">
                      <a16:colId xmlns:a16="http://schemas.microsoft.com/office/drawing/2014/main" val="2485993804"/>
                    </a:ext>
                  </a:extLst>
                </a:gridCol>
                <a:gridCol w="3258619">
                  <a:extLst>
                    <a:ext uri="{9D8B030D-6E8A-4147-A177-3AD203B41FA5}">
                      <a16:colId xmlns:a16="http://schemas.microsoft.com/office/drawing/2014/main" val="3999794387"/>
                    </a:ext>
                  </a:extLst>
                </a:gridCol>
              </a:tblGrid>
              <a:tr h="7825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Quarterly (as of March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Annual (as of December 2023)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713564"/>
                  </a:ext>
                </a:extLst>
              </a:tr>
              <a:tr h="782525">
                <a:tc>
                  <a:txBody>
                    <a:bodyPr/>
                    <a:lstStyle/>
                    <a:p>
                      <a:r>
                        <a:rPr lang="en-IN"/>
                        <a:t>Net Income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-16.08%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347604"/>
                  </a:ext>
                </a:extLst>
              </a:tr>
              <a:tr h="782525">
                <a:tc>
                  <a:txBody>
                    <a:bodyPr/>
                    <a:lstStyle/>
                    <a:p>
                      <a:r>
                        <a:rPr lang="en-IN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$34.1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672992"/>
                  </a:ext>
                </a:extLst>
              </a:tr>
              <a:tr h="782525">
                <a:tc>
                  <a:txBody>
                    <a:bodyPr/>
                    <a:lstStyle/>
                    <a:p>
                      <a:r>
                        <a:rPr lang="en-IN"/>
                        <a:t>Revenue Growth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+19.56%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980309"/>
                  </a:ext>
                </a:extLst>
              </a:tr>
              <a:tr h="782525">
                <a:tc>
                  <a:txBody>
                    <a:bodyPr/>
                    <a:lstStyle/>
                    <a:p>
                      <a:r>
                        <a:rPr lang="en-IN"/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+$11.85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54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22343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17A0-4CC6-C983-DA34-CB4072D7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/>
              <a:t>Valuation:</a:t>
            </a:r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A2729D-0CEC-B4F3-C8D8-6D018190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548200"/>
              </p:ext>
            </p:extLst>
          </p:nvPr>
        </p:nvGraphicFramePr>
        <p:xfrm>
          <a:off x="838200" y="1690688"/>
          <a:ext cx="9209926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04963">
                  <a:extLst>
                    <a:ext uri="{9D8B030D-6E8A-4147-A177-3AD203B41FA5}">
                      <a16:colId xmlns:a16="http://schemas.microsoft.com/office/drawing/2014/main" val="20122845"/>
                    </a:ext>
                  </a:extLst>
                </a:gridCol>
                <a:gridCol w="4604963">
                  <a:extLst>
                    <a:ext uri="{9D8B030D-6E8A-4147-A177-3AD203B41FA5}">
                      <a16:colId xmlns:a16="http://schemas.microsoft.com/office/drawing/2014/main" val="459462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P/E Ratio (TTM)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127.55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18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P/E Ratio (including ordinary items)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135.10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434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Price to Sales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15.43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0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Price to Book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51.38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667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Price to Cash Flow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124.18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4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Enterprise Value to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61.70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3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Enterprise Value to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21.43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600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Total Debt to Enterprise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61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Total Debt to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2.13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824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EPS (recurring)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8.73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0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EPS (basic)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5.82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767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EPS (diluted)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5.80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671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42549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66A2-60CD-05EC-9F4A-0BF5CDA7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Profitability: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5EB97A-08C1-18C0-A0E8-DAD53A647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995613"/>
              </p:ext>
            </p:extLst>
          </p:nvPr>
        </p:nvGraphicFramePr>
        <p:xfrm>
          <a:off x="838200" y="1690688"/>
          <a:ext cx="9220200" cy="4175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10100">
                  <a:extLst>
                    <a:ext uri="{9D8B030D-6E8A-4147-A177-3AD203B41FA5}">
                      <a16:colId xmlns:a16="http://schemas.microsoft.com/office/drawing/2014/main" val="3616712958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394516798"/>
                    </a:ext>
                  </a:extLst>
                </a:gridCol>
              </a:tblGrid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+79.56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343044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Operating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+30.26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683988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Pretax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+19.21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385169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Net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+15.36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884433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Return on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9.23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32237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Return on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48.93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059049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Return on Total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32.73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614884"/>
                  </a:ext>
                </a:extLst>
              </a:tr>
              <a:tr h="521982">
                <a:tc>
                  <a:txBody>
                    <a:bodyPr/>
                    <a:lstStyle/>
                    <a:p>
                      <a:r>
                        <a:rPr lang="en-IN"/>
                        <a:t>Return on Invested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19.24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273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50705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C904-C63B-4388-E132-7E1368A9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Capital Structure: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833054-16E4-4CC8-AB89-47F31F173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3352"/>
              </p:ext>
            </p:extLst>
          </p:nvPr>
        </p:nvGraphicFramePr>
        <p:xfrm>
          <a:off x="963486" y="1860098"/>
          <a:ext cx="9064092" cy="29687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32046">
                  <a:extLst>
                    <a:ext uri="{9D8B030D-6E8A-4147-A177-3AD203B41FA5}">
                      <a16:colId xmlns:a16="http://schemas.microsoft.com/office/drawing/2014/main" val="3442460348"/>
                    </a:ext>
                  </a:extLst>
                </a:gridCol>
                <a:gridCol w="4532046">
                  <a:extLst>
                    <a:ext uri="{9D8B030D-6E8A-4147-A177-3AD203B41FA5}">
                      <a16:colId xmlns:a16="http://schemas.microsoft.com/office/drawing/2014/main" val="3938414279"/>
                    </a:ext>
                  </a:extLst>
                </a:gridCol>
              </a:tblGrid>
              <a:tr h="742189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Total Debt to Total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234.18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68336"/>
                  </a:ext>
                </a:extLst>
              </a:tr>
              <a:tr h="742189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Total Debt to Total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39.41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868124"/>
                  </a:ext>
                </a:extLst>
              </a:tr>
              <a:tr h="742189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Interest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21.25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49756"/>
                  </a:ext>
                </a:extLst>
              </a:tr>
              <a:tr h="742189"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Long-Term Debt to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170.08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63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87292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E79E-209B-2E61-C412-F9C62A3C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Macro Factors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1908-D84B-731A-CEA3-98B8BB87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717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5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Government policies and regulations:</a:t>
            </a:r>
            <a:endParaRPr lang="en-US" sz="1500">
              <a:ea typeface="Calibri"/>
              <a:cs typeface="Calibri"/>
            </a:endParaRPr>
          </a:p>
          <a:p>
            <a:pPr lvl="1"/>
            <a:r>
              <a:rPr lang="en-US" sz="1500"/>
              <a:t>High: Strict drug pricing controls, lengthy approval processes, strong patent laws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Demographic Trends:</a:t>
            </a:r>
            <a:endParaRPr lang="en-US" sz="1500">
              <a:ea typeface="Calibri"/>
              <a:cs typeface="Calibri"/>
            </a:endParaRPr>
          </a:p>
          <a:p>
            <a:pPr lvl="1"/>
            <a:r>
              <a:rPr lang="en-IN" sz="1500"/>
              <a:t>High: </a:t>
            </a:r>
            <a:r>
              <a:rPr lang="en-US" sz="1500"/>
              <a:t>Rapidly aging population, increasing chronic disease prevalence</a:t>
            </a:r>
            <a:endParaRPr lang="en-US" sz="15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en-US" sz="15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Technological advancements:</a:t>
            </a:r>
            <a:endParaRPr lang="en-US" sz="1500">
              <a:ea typeface="Calibri"/>
              <a:cs typeface="Calibri"/>
            </a:endParaRPr>
          </a:p>
          <a:p>
            <a:pPr lvl="1"/>
            <a:r>
              <a:rPr lang="en-US" sz="1500"/>
              <a:t>High: Rapid development of new drug delivery systems and biotechnologies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500">
                <a:latin typeface="Arial"/>
                <a:ea typeface="Calibri" panose="020F0502020204030204"/>
                <a:cs typeface="Arial"/>
              </a:rPr>
              <a:t>4.    Competition and industry dynamics:</a:t>
            </a:r>
          </a:p>
          <a:p>
            <a:pPr marL="971550" lvl="1" indent="-285750">
              <a:buFont typeface="Arial"/>
              <a:buChar char="•"/>
            </a:pPr>
            <a:r>
              <a:rPr lang="en-US" sz="1500">
                <a:latin typeface="Arial"/>
                <a:ea typeface="Calibri" panose="020F0502020204030204"/>
                <a:cs typeface="Arial"/>
              </a:rPr>
              <a:t>Low: Limited competition, stable industry structure, extensive capital investments required</a:t>
            </a:r>
          </a:p>
          <a:p>
            <a:pPr marL="971550" lvl="1" indent="-285750">
              <a:buFont typeface="Arial"/>
              <a:buChar char="•"/>
            </a:pPr>
            <a:endParaRPr lang="en-US" sz="1500">
              <a:latin typeface="Arial"/>
              <a:ea typeface="Calibri" panose="020F0502020204030204"/>
              <a:cs typeface="Arial"/>
            </a:endParaRPr>
          </a:p>
          <a:p>
            <a:pPr marL="0" indent="0">
              <a:buNone/>
            </a:pPr>
            <a:r>
              <a:rPr lang="en-US" sz="1500">
                <a:latin typeface="Arial"/>
                <a:ea typeface="Calibri" panose="020F0502020204030204"/>
                <a:cs typeface="Arial"/>
              </a:rPr>
              <a:t>5.    Environmental and sustainability concerns:</a:t>
            </a:r>
          </a:p>
          <a:p>
            <a:pPr marL="971550" lvl="1" indent="-285750">
              <a:buFont typeface="Arial"/>
              <a:buChar char="•"/>
            </a:pPr>
            <a:r>
              <a:rPr lang="en-US" sz="1500">
                <a:latin typeface="Arial"/>
                <a:ea typeface="Calibri" panose="020F0502020204030204"/>
                <a:cs typeface="Arial"/>
              </a:rPr>
              <a:t>High: Stringent regulations, strong public demand for eco-friendly practices</a:t>
            </a:r>
          </a:p>
          <a:p>
            <a:pPr>
              <a:buFont typeface="Arial"/>
              <a:buChar char="•"/>
            </a:pPr>
            <a:endParaRPr lang="en-IN" sz="1500">
              <a:latin typeface="Arial"/>
              <a:ea typeface="Calibri" panose="020F0502020204030204"/>
              <a:cs typeface="Arial"/>
            </a:endParaRPr>
          </a:p>
          <a:p>
            <a:pPr marL="457200" lvl="1" indent="0">
              <a:buNone/>
            </a:pP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endParaRPr lang="en-US" sz="1500">
              <a:ea typeface="Calibri" panose="020F0502020204030204"/>
              <a:cs typeface="Calibri" panose="020F0502020204030204"/>
            </a:endParaRPr>
          </a:p>
          <a:p>
            <a:pPr lvl="1"/>
            <a:endParaRPr lang="en-US" sz="15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0668527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0FE06-6C41-6DA7-6369-D4A27F06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Bond Characteristics: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3491FDA-0E5E-FC0D-AC0E-2C8924A67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330243"/>
              </p:ext>
            </p:extLst>
          </p:nvPr>
        </p:nvGraphicFramePr>
        <p:xfrm>
          <a:off x="982038" y="1690688"/>
          <a:ext cx="1051559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501">
                  <a:extLst>
                    <a:ext uri="{9D8B030D-6E8A-4147-A177-3AD203B41FA5}">
                      <a16:colId xmlns:a16="http://schemas.microsoft.com/office/drawing/2014/main" val="58794077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136341975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3477592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868426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3676713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110343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96718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YTM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Coupon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Callable/Non Callable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Call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055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LLY 3.1 05/15/2027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5/15/2027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Semi-annual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3.10%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Callable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62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LLY 4.5 02/09/2027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2/9/2027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Semi-annual</a:t>
                      </a:r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Callable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623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LLY 5 02/27/2026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2/27/2026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Semi-annual</a:t>
                      </a:r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Callable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94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LLY 4.7 02/27/2033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2/27/2033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Semi-annual</a:t>
                      </a:r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5.223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Callable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49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7977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E572-D020-53FD-4098-2080B596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Ratings: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F11E62-DA56-697E-22B1-FD509E03B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004822"/>
              </p:ext>
            </p:extLst>
          </p:nvPr>
        </p:nvGraphicFramePr>
        <p:xfrm>
          <a:off x="963489" y="1690687"/>
          <a:ext cx="9711360" cy="216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7120">
                  <a:extLst>
                    <a:ext uri="{9D8B030D-6E8A-4147-A177-3AD203B41FA5}">
                      <a16:colId xmlns:a16="http://schemas.microsoft.com/office/drawing/2014/main" val="302774735"/>
                    </a:ext>
                  </a:extLst>
                </a:gridCol>
                <a:gridCol w="3237120">
                  <a:extLst>
                    <a:ext uri="{9D8B030D-6E8A-4147-A177-3AD203B41FA5}">
                      <a16:colId xmlns:a16="http://schemas.microsoft.com/office/drawing/2014/main" val="3935875276"/>
                    </a:ext>
                  </a:extLst>
                </a:gridCol>
                <a:gridCol w="3237120">
                  <a:extLst>
                    <a:ext uri="{9D8B030D-6E8A-4147-A177-3AD203B41FA5}">
                      <a16:colId xmlns:a16="http://schemas.microsoft.com/office/drawing/2014/main" val="1506675648"/>
                    </a:ext>
                  </a:extLst>
                </a:gridCol>
              </a:tblGrid>
              <a:tr h="43242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S&amp;P: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Moody’s: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59633"/>
                  </a:ext>
                </a:extLst>
              </a:tr>
              <a:tr h="432424"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LLY 3.1 05/15/2027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509811"/>
                  </a:ext>
                </a:extLst>
              </a:tr>
              <a:tr h="432424"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LLY 4.5 02/09/2027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28671"/>
                  </a:ext>
                </a:extLst>
              </a:tr>
              <a:tr h="432424"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LLY 5 02/27/2026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414169"/>
                  </a:ext>
                </a:extLst>
              </a:tr>
              <a:tr h="432424"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LLY 4.7 02/27/2033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1162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792F9C-34F4-E21B-5233-36B2D94C8C4C}"/>
              </a:ext>
            </a:extLst>
          </p:cNvPr>
          <p:cNvSpPr txBox="1"/>
          <p:nvPr/>
        </p:nvSpPr>
        <p:spPr>
          <a:xfrm>
            <a:off x="905410" y="4033699"/>
            <a:ext cx="97694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S&amp;P's A+ and Moody's A1 ratings for Eli and Lilly’s bond indicate:</a:t>
            </a:r>
          </a:p>
          <a:p>
            <a:r>
              <a:rPr lang="en-IN" dirty="0"/>
              <a:t>- Strong creditworthiness</a:t>
            </a:r>
          </a:p>
          <a:p>
            <a:r>
              <a:rPr lang="en-IN" dirty="0"/>
              <a:t>- Low risk of default </a:t>
            </a:r>
          </a:p>
          <a:p>
            <a:r>
              <a:rPr lang="en-IN" dirty="0"/>
              <a:t>- Investment-grade quality</a:t>
            </a:r>
          </a:p>
          <a:p>
            <a:r>
              <a:rPr lang="en-IN" dirty="0"/>
              <a:t>- Slightly more susceptible to adverse conditions than highest-rated bonds</a:t>
            </a:r>
          </a:p>
          <a:p>
            <a:endParaRPr lang="en-IN" dirty="0"/>
          </a:p>
          <a:p>
            <a:r>
              <a:rPr lang="en-IN" dirty="0"/>
              <a:t>The ratings suggest the bond has relatively low credit risk suitable for investors seeking a balance between risk and return.</a:t>
            </a:r>
          </a:p>
        </p:txBody>
      </p:sp>
    </p:spTree>
    <p:extLst>
      <p:ext uri="{BB962C8B-B14F-4D97-AF65-F5344CB8AC3E}">
        <p14:creationId xmlns:p14="http://schemas.microsoft.com/office/powerpoint/2010/main" val="90592068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5481-14D1-78ED-369D-E016260C6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/>
              <a:t>Current Yield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9CB77E-8BC0-B2B5-BAB1-3925C5EA5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30648"/>
              </p:ext>
            </p:extLst>
          </p:nvPr>
        </p:nvGraphicFramePr>
        <p:xfrm>
          <a:off x="963487" y="1690686"/>
          <a:ext cx="9680540" cy="224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108">
                  <a:extLst>
                    <a:ext uri="{9D8B030D-6E8A-4147-A177-3AD203B41FA5}">
                      <a16:colId xmlns:a16="http://schemas.microsoft.com/office/drawing/2014/main" val="3755678067"/>
                    </a:ext>
                  </a:extLst>
                </a:gridCol>
                <a:gridCol w="1936108">
                  <a:extLst>
                    <a:ext uri="{9D8B030D-6E8A-4147-A177-3AD203B41FA5}">
                      <a16:colId xmlns:a16="http://schemas.microsoft.com/office/drawing/2014/main" val="285285936"/>
                    </a:ext>
                  </a:extLst>
                </a:gridCol>
                <a:gridCol w="1936108">
                  <a:extLst>
                    <a:ext uri="{9D8B030D-6E8A-4147-A177-3AD203B41FA5}">
                      <a16:colId xmlns:a16="http://schemas.microsoft.com/office/drawing/2014/main" val="1277474732"/>
                    </a:ext>
                  </a:extLst>
                </a:gridCol>
                <a:gridCol w="1936108">
                  <a:extLst>
                    <a:ext uri="{9D8B030D-6E8A-4147-A177-3AD203B41FA5}">
                      <a16:colId xmlns:a16="http://schemas.microsoft.com/office/drawing/2014/main" val="3154361590"/>
                    </a:ext>
                  </a:extLst>
                </a:gridCol>
                <a:gridCol w="1936108">
                  <a:extLst>
                    <a:ext uri="{9D8B030D-6E8A-4147-A177-3AD203B41FA5}">
                      <a16:colId xmlns:a16="http://schemas.microsoft.com/office/drawing/2014/main" val="3520944161"/>
                    </a:ext>
                  </a:extLst>
                </a:gridCol>
              </a:tblGrid>
              <a:tr h="5610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75102"/>
                  </a:ext>
                </a:extLst>
              </a:tr>
              <a:tr h="561079">
                <a:tc>
                  <a:txBody>
                    <a:bodyPr/>
                    <a:lstStyle/>
                    <a:p>
                      <a:r>
                        <a:rPr lang="en-IN"/>
                        <a:t>Coupon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4.70%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820187"/>
                  </a:ext>
                </a:extLst>
              </a:tr>
              <a:tr h="561079">
                <a:tc>
                  <a:txBody>
                    <a:bodyPr/>
                    <a:lstStyle/>
                    <a:p>
                      <a:r>
                        <a:rPr lang="en-IN"/>
                        <a:t>Coupon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94.643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98.794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99.932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96.333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30744"/>
                  </a:ext>
                </a:extLst>
              </a:tr>
              <a:tr h="561079">
                <a:tc>
                  <a:txBody>
                    <a:bodyPr/>
                    <a:lstStyle/>
                    <a:p>
                      <a:r>
                        <a:rPr lang="en-IN"/>
                        <a:t>Current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3.275%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4.5549%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5.003%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4.878%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95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82322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DA13-07C3-5EC5-91B6-51D1AF29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Yield to Maturity (YTM):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C4ACC5-C34A-A38C-1993-93AB73D11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7934"/>
              </p:ext>
            </p:extLst>
          </p:nvPr>
        </p:nvGraphicFramePr>
        <p:xfrm>
          <a:off x="984035" y="1721509"/>
          <a:ext cx="9701090" cy="2264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218">
                  <a:extLst>
                    <a:ext uri="{9D8B030D-6E8A-4147-A177-3AD203B41FA5}">
                      <a16:colId xmlns:a16="http://schemas.microsoft.com/office/drawing/2014/main" val="3239842310"/>
                    </a:ext>
                  </a:extLst>
                </a:gridCol>
                <a:gridCol w="1940218">
                  <a:extLst>
                    <a:ext uri="{9D8B030D-6E8A-4147-A177-3AD203B41FA5}">
                      <a16:colId xmlns:a16="http://schemas.microsoft.com/office/drawing/2014/main" val="1914888332"/>
                    </a:ext>
                  </a:extLst>
                </a:gridCol>
                <a:gridCol w="1940218">
                  <a:extLst>
                    <a:ext uri="{9D8B030D-6E8A-4147-A177-3AD203B41FA5}">
                      <a16:colId xmlns:a16="http://schemas.microsoft.com/office/drawing/2014/main" val="3344618782"/>
                    </a:ext>
                  </a:extLst>
                </a:gridCol>
                <a:gridCol w="1940218">
                  <a:extLst>
                    <a:ext uri="{9D8B030D-6E8A-4147-A177-3AD203B41FA5}">
                      <a16:colId xmlns:a16="http://schemas.microsoft.com/office/drawing/2014/main" val="1676605818"/>
                    </a:ext>
                  </a:extLst>
                </a:gridCol>
                <a:gridCol w="1940218">
                  <a:extLst>
                    <a:ext uri="{9D8B030D-6E8A-4147-A177-3AD203B41FA5}">
                      <a16:colId xmlns:a16="http://schemas.microsoft.com/office/drawing/2014/main" val="4051856559"/>
                    </a:ext>
                  </a:extLst>
                </a:gridCol>
              </a:tblGrid>
              <a:tr h="45297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40390"/>
                  </a:ext>
                </a:extLst>
              </a:tr>
              <a:tr h="452973">
                <a:tc>
                  <a:txBody>
                    <a:bodyPr/>
                    <a:lstStyle/>
                    <a:p>
                      <a:r>
                        <a:rPr lang="en-IN"/>
                        <a:t>Coupon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4.70%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470761"/>
                  </a:ext>
                </a:extLst>
              </a:tr>
              <a:tr h="452973">
                <a:tc>
                  <a:txBody>
                    <a:bodyPr/>
                    <a:lstStyle/>
                    <a:p>
                      <a:r>
                        <a:rPr lang="en-IN"/>
                        <a:t>Current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94.643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98.794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99.932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96.333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159878"/>
                  </a:ext>
                </a:extLst>
              </a:tr>
              <a:tr h="452973">
                <a:tc>
                  <a:txBody>
                    <a:bodyPr/>
                    <a:lstStyle/>
                    <a:p>
                      <a:r>
                        <a:rPr lang="en-IN"/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5/15/2027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2/9/2027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2/27/2026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2/27/2033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874678"/>
                  </a:ext>
                </a:extLst>
              </a:tr>
              <a:tr h="452973">
                <a:tc>
                  <a:txBody>
                    <a:bodyPr/>
                    <a:lstStyle/>
                    <a:p>
                      <a:r>
                        <a:rPr lang="en-IN"/>
                        <a:t>YTM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5.014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4.968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5.039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5.223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80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09946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D155-671E-5549-DB36-71332F01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Yield to Call: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98C577-464E-969D-8F10-34E46122B9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364786"/>
              </p:ext>
            </p:extLst>
          </p:nvPr>
        </p:nvGraphicFramePr>
        <p:xfrm>
          <a:off x="992312" y="1690688"/>
          <a:ext cx="9682535" cy="381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507">
                  <a:extLst>
                    <a:ext uri="{9D8B030D-6E8A-4147-A177-3AD203B41FA5}">
                      <a16:colId xmlns:a16="http://schemas.microsoft.com/office/drawing/2014/main" val="3067674218"/>
                    </a:ext>
                  </a:extLst>
                </a:gridCol>
                <a:gridCol w="1936507">
                  <a:extLst>
                    <a:ext uri="{9D8B030D-6E8A-4147-A177-3AD203B41FA5}">
                      <a16:colId xmlns:a16="http://schemas.microsoft.com/office/drawing/2014/main" val="981536694"/>
                    </a:ext>
                  </a:extLst>
                </a:gridCol>
                <a:gridCol w="1936507">
                  <a:extLst>
                    <a:ext uri="{9D8B030D-6E8A-4147-A177-3AD203B41FA5}">
                      <a16:colId xmlns:a16="http://schemas.microsoft.com/office/drawing/2014/main" val="118718810"/>
                    </a:ext>
                  </a:extLst>
                </a:gridCol>
                <a:gridCol w="1936507">
                  <a:extLst>
                    <a:ext uri="{9D8B030D-6E8A-4147-A177-3AD203B41FA5}">
                      <a16:colId xmlns:a16="http://schemas.microsoft.com/office/drawing/2014/main" val="1052382180"/>
                    </a:ext>
                  </a:extLst>
                </a:gridCol>
                <a:gridCol w="1936507">
                  <a:extLst>
                    <a:ext uri="{9D8B030D-6E8A-4147-A177-3AD203B41FA5}">
                      <a16:colId xmlns:a16="http://schemas.microsoft.com/office/drawing/2014/main" val="2936381562"/>
                    </a:ext>
                  </a:extLst>
                </a:gridCol>
              </a:tblGrid>
              <a:tr h="5450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40346"/>
                  </a:ext>
                </a:extLst>
              </a:tr>
              <a:tr h="545099">
                <a:tc>
                  <a:txBody>
                    <a:bodyPr/>
                    <a:lstStyle/>
                    <a:p>
                      <a:r>
                        <a:rPr lang="en-IN"/>
                        <a:t>Coupon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4.70%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67336"/>
                  </a:ext>
                </a:extLst>
              </a:tr>
              <a:tr h="545099">
                <a:tc>
                  <a:txBody>
                    <a:bodyPr/>
                    <a:lstStyle/>
                    <a:p>
                      <a:r>
                        <a:rPr lang="en-IN"/>
                        <a:t>Current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94.643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98.794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99.932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96.333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499908"/>
                  </a:ext>
                </a:extLst>
              </a:tr>
              <a:tr h="545099">
                <a:tc>
                  <a:txBody>
                    <a:bodyPr/>
                    <a:lstStyle/>
                    <a:p>
                      <a:r>
                        <a:rPr lang="en-IN"/>
                        <a:t>Next Call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757529"/>
                  </a:ext>
                </a:extLst>
              </a:tr>
              <a:tr h="545099">
                <a:tc>
                  <a:txBody>
                    <a:bodyPr/>
                    <a:lstStyle/>
                    <a:p>
                      <a:r>
                        <a:rPr lang="en-IN"/>
                        <a:t>Call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926383"/>
                  </a:ext>
                </a:extLst>
              </a:tr>
              <a:tr h="545099">
                <a:tc>
                  <a:txBody>
                    <a:bodyPr/>
                    <a:lstStyle/>
                    <a:p>
                      <a:r>
                        <a:rPr lang="en-IN"/>
                        <a:t>Call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Continuously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Continuously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Continuously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Continuously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222154"/>
                  </a:ext>
                </a:extLst>
              </a:tr>
              <a:tr h="545099">
                <a:tc>
                  <a:txBody>
                    <a:bodyPr/>
                    <a:lstStyle/>
                    <a:p>
                      <a:r>
                        <a:rPr lang="en-IN"/>
                        <a:t>Yield to Next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7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17387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D498-3310-E62F-AD7C-A5283A1F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Sensitivity Analysis: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5159CA-1105-6C60-9A18-0F0EF6BD9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518246"/>
              </p:ext>
            </p:extLst>
          </p:nvPr>
        </p:nvGraphicFramePr>
        <p:xfrm>
          <a:off x="973762" y="1731782"/>
          <a:ext cx="9711364" cy="420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841">
                  <a:extLst>
                    <a:ext uri="{9D8B030D-6E8A-4147-A177-3AD203B41FA5}">
                      <a16:colId xmlns:a16="http://schemas.microsoft.com/office/drawing/2014/main" val="2291270588"/>
                    </a:ext>
                  </a:extLst>
                </a:gridCol>
                <a:gridCol w="2427841">
                  <a:extLst>
                    <a:ext uri="{9D8B030D-6E8A-4147-A177-3AD203B41FA5}">
                      <a16:colId xmlns:a16="http://schemas.microsoft.com/office/drawing/2014/main" val="1939995586"/>
                    </a:ext>
                  </a:extLst>
                </a:gridCol>
                <a:gridCol w="2427841">
                  <a:extLst>
                    <a:ext uri="{9D8B030D-6E8A-4147-A177-3AD203B41FA5}">
                      <a16:colId xmlns:a16="http://schemas.microsoft.com/office/drawing/2014/main" val="3508163359"/>
                    </a:ext>
                  </a:extLst>
                </a:gridCol>
                <a:gridCol w="2427841">
                  <a:extLst>
                    <a:ext uri="{9D8B030D-6E8A-4147-A177-3AD203B41FA5}">
                      <a16:colId xmlns:a16="http://schemas.microsoft.com/office/drawing/2014/main" val="1630527633"/>
                    </a:ext>
                  </a:extLst>
                </a:gridCol>
              </a:tblGrid>
              <a:tr h="841336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Modified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Convexity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888553"/>
                  </a:ext>
                </a:extLst>
              </a:tr>
              <a:tr h="841336">
                <a:tc>
                  <a:txBody>
                    <a:bodyPr/>
                    <a:lstStyle/>
                    <a:p>
                      <a:r>
                        <a:rPr lang="en-IN"/>
                        <a:t>Bond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2.957877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2.81675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170656"/>
                  </a:ext>
                </a:extLst>
              </a:tr>
              <a:tr h="841336">
                <a:tc>
                  <a:txBody>
                    <a:bodyPr/>
                    <a:lstStyle/>
                    <a:p>
                      <a:r>
                        <a:rPr lang="en-IN"/>
                        <a:t>Bond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2.687092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2.55986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88502"/>
                  </a:ext>
                </a:extLst>
              </a:tr>
              <a:tr h="841336">
                <a:tc>
                  <a:txBody>
                    <a:bodyPr/>
                    <a:lstStyle/>
                    <a:p>
                      <a:r>
                        <a:rPr lang="en-IN"/>
                        <a:t>Bond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1.806685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1.71999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0.3866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16549"/>
                  </a:ext>
                </a:extLst>
              </a:tr>
              <a:tr h="841336">
                <a:tc>
                  <a:txBody>
                    <a:bodyPr/>
                    <a:lstStyle/>
                    <a:p>
                      <a:r>
                        <a:rPr lang="en-IN"/>
                        <a:t>Bond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7.409522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7.04193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5.9748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986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18234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CEADD-A06F-4921-E70F-9172B813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Yield and Maturity Relationship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924BB9-BF20-D085-4CF6-61483069D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527513"/>
              </p:ext>
            </p:extLst>
          </p:nvPr>
        </p:nvGraphicFramePr>
        <p:xfrm>
          <a:off x="951216" y="1690687"/>
          <a:ext cx="9949665" cy="4545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935549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5E25-0121-2081-8FC1-D06B7BF6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Recommendation: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378A9-4814-4C1F-1785-E7D897BF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Portfolio Diversification Recommendation:</a:t>
            </a:r>
          </a:p>
          <a:p>
            <a:pPr lvl="1"/>
            <a:r>
              <a:rPr lang="en-US"/>
              <a:t>Beta of individual bonds</a:t>
            </a:r>
          </a:p>
          <a:p>
            <a:pPr lvl="1"/>
            <a:r>
              <a:rPr lang="en-US"/>
              <a:t>Callable/ Non callable</a:t>
            </a:r>
          </a:p>
          <a:p>
            <a:pPr lvl="1"/>
            <a:r>
              <a:rPr lang="en-US"/>
              <a:t>Next Call Date</a:t>
            </a:r>
          </a:p>
          <a:p>
            <a:pPr lvl="1"/>
            <a:r>
              <a:rPr lang="en-US"/>
              <a:t>Call Frequency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97632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Widescreen</PresentationFormat>
  <Paragraphs>250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Eli Lilly and Company</vt:lpstr>
      <vt:lpstr>Agenda</vt:lpstr>
      <vt:lpstr>Company Overview</vt:lpstr>
      <vt:lpstr>Company Overview:</vt:lpstr>
      <vt:lpstr>Financial Background: </vt:lpstr>
      <vt:lpstr>Valuation:</vt:lpstr>
      <vt:lpstr>Profitability:</vt:lpstr>
      <vt:lpstr>Capital Structure:</vt:lpstr>
      <vt:lpstr>Macro Factors Analysis:</vt:lpstr>
      <vt:lpstr>Bond Characteristics:</vt:lpstr>
      <vt:lpstr>Ratings:</vt:lpstr>
      <vt:lpstr>Current Yield</vt:lpstr>
      <vt:lpstr>Yield to Maturity (YTM):</vt:lpstr>
      <vt:lpstr>Yield to Call:</vt:lpstr>
      <vt:lpstr>Sensitivity Analysis:</vt:lpstr>
      <vt:lpstr>Yield and Maturity Relationship</vt:lpstr>
      <vt:lpstr>Recommendation: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Krisha Ashishkumar Shah</dc:creator>
  <cp:lastModifiedBy>Niket Shah</cp:lastModifiedBy>
  <cp:revision>2</cp:revision>
  <dcterms:created xsi:type="dcterms:W3CDTF">2024-04-22T23:31:56Z</dcterms:created>
  <dcterms:modified xsi:type="dcterms:W3CDTF">2024-11-25T08:45:17Z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2024-04-22T23:32:10Z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c9c7ae78-76c6-46ae-b762-496836e39ea1</vt:lpwstr>
  </property>
  <property fmtid="{D5CDD505-2E9C-101B-9397-08002B2CF9AE}" pid="8" name="MSIP_Label_a73fd474-4f3c-44ed-88fb-5cc4bd2471bf_ContentBits">
    <vt:lpwstr>0</vt:lpwstr>
  </property>
</Properties>
</file>